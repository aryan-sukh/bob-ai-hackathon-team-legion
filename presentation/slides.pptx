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59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566928"/>
            <a:ext cx="109728" cy="914400"/>
          </a:xfrm>
          <a:prstGeom prst="rect">
            <a:avLst/>
          </a:prstGeom>
          <a:solidFill>
            <a:srgbClr val="34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868680" y="594360"/>
            <a:ext cx="105156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B9D8F5"/>
                </a:solidFill>
                <a:latin typeface="Aptos"/>
              </a:defRPr>
            </a:pPr>
            <a:r>
              <a:rPr sz="1800"/>
              <a:t>PHARMA &amp; BIOTECH  |  IBM BOB AI INNOVATION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80160"/>
            <a:ext cx="10515600" cy="120032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rPr sz="2800"/>
              <a:t>TrialGuard AI
Clinical Trial Risk Monitor &amp; Protocol Deviation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852928"/>
            <a:ext cx="9875520" cy="61555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0">
                <a:solidFill>
                  <a:srgbClr val="E0EBF7"/>
                </a:solidFill>
                <a:latin typeface="Aptos"/>
              </a:defRPr>
            </a:pPr>
            <a:r>
              <a:rPr sz="2000"/>
              <a:t>An explainable AI quality assistant that detects potential protocol deviations early, prioritizes high-risk trial sites, and prepares evidence-linked corrective-action drafts.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069080"/>
            <a:ext cx="1463040" cy="502920"/>
          </a:xfrm>
          <a:prstGeom prst="roundRect">
            <a:avLst/>
          </a:prstGeom>
          <a:solidFill>
            <a:srgbClr val="34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46304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4069080"/>
            <a:ext cx="1463040" cy="502920"/>
          </a:xfrm>
          <a:prstGeom prst="roundRect">
            <a:avLst/>
          </a:prstGeom>
          <a:solidFill>
            <a:srgbClr val="19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2743200" y="4206240"/>
            <a:ext cx="146304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4069080"/>
            <a:ext cx="1463040" cy="502920"/>
          </a:xfrm>
          <a:prstGeom prst="roundRect">
            <a:avLst/>
          </a:prstGeom>
          <a:solidFill>
            <a:srgbClr val="E88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4572000" y="4206240"/>
            <a:ext cx="146304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64008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D2E2F2"/>
                </a:solidFill>
                <a:latin typeface="Aptos"/>
              </a:defRPr>
            </a:pPr>
            <a:r>
              <a:rPr sz="1700"/>
              <a:t>Team: TrialGuard • Rohit Gohil • Aryan Sukhadiya • Ved Vyas • Aditya Shevale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64008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B9D8F5"/>
                </a:solidFill>
                <a:latin typeface="Aptos"/>
              </a:defRPr>
            </a:pPr>
            <a:r>
              <a:rPr sz="1700"/>
              <a:t>Track: Pharma &amp; Biotech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875520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3200"/>
              <a:t>The Problem: Clinical Trial Risk Is Detected Too 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118872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CCDEF1"/>
                </a:solidFill>
                <a:latin typeface="Aptos"/>
              </a:defRPr>
            </a:pPr>
            <a:r>
              <a:rPr sz="1100"/>
              <a:t>02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>
                <a:solidFill>
                  <a:srgbClr val="12223B"/>
                </a:solidFill>
                <a:latin typeface="Aptos"/>
              </a:defRPr>
            </a:pPr>
            <a:r>
              <a:rPr sz="2200"/>
              <a:t>Clinical trials depend on strict adherence to approved protocols.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088136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232A33"/>
                </a:solidFill>
                <a:latin typeface="Aptos"/>
              </a:defRPr>
            </a:pPr>
            <a:r>
              <a:rPr sz="1600"/>
              <a:t>When records are reviewed manually across many sites, important deviations may remain hidden until monitoring visits or audits.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2606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82296" cy="1920240"/>
          </a:xfrm>
          <a:prstGeom prst="rect">
            <a:avLst/>
          </a:prstGeom>
          <a:solidFill>
            <a:srgbClr val="BE3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841247" y="2423160"/>
            <a:ext cx="22860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12223B"/>
                </a:solidFill>
                <a:latin typeface="Aptos"/>
              </a:defRPr>
            </a:pPr>
            <a:r>
              <a:rPr dirty="0"/>
              <a:t>Missed visits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816352"/>
            <a:ext cx="228600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232A33"/>
                </a:solidFill>
                <a:latin typeface="Aptos"/>
              </a:defRPr>
            </a:pPr>
            <a:r>
              <a:rPr sz="1400" dirty="0"/>
              <a:t>Patient attends outside the permitted visit window.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286000"/>
            <a:ext cx="2606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Rectangle 11"/>
          <p:cNvSpPr/>
          <p:nvPr/>
        </p:nvSpPr>
        <p:spPr>
          <a:xfrm>
            <a:off x="3474720" y="2286000"/>
            <a:ext cx="82296" cy="1920240"/>
          </a:xfrm>
          <a:prstGeom prst="rect">
            <a:avLst/>
          </a:prstGeom>
          <a:solidFill>
            <a:srgbClr val="E88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3675887" y="2423160"/>
            <a:ext cx="22860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12223B"/>
                </a:solidFill>
                <a:latin typeface="Aptos"/>
              </a:defRPr>
            </a:pPr>
            <a:r>
              <a:rPr dirty="0"/>
              <a:t>Wrong dosing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816352"/>
            <a:ext cx="2286000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232A33"/>
                </a:solidFill>
                <a:latin typeface="Aptos"/>
              </a:defRPr>
            </a:pPr>
            <a:r>
              <a:rPr sz="1600"/>
              <a:t>Administered dose differs from the approved protocol.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286000"/>
            <a:ext cx="2606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Rectangle 15"/>
          <p:cNvSpPr/>
          <p:nvPr/>
        </p:nvSpPr>
        <p:spPr>
          <a:xfrm>
            <a:off x="6309360" y="2286000"/>
            <a:ext cx="82296" cy="1920240"/>
          </a:xfrm>
          <a:prstGeom prst="rect">
            <a:avLst/>
          </a:prstGeom>
          <a:solidFill>
            <a:srgbClr val="19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6510528" y="2423160"/>
            <a:ext cx="22860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12223B"/>
                </a:solidFill>
                <a:latin typeface="Aptos"/>
              </a:defRPr>
            </a:pPr>
            <a:r>
              <a:rPr dirty="0"/>
              <a:t>Restricted medicines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816352"/>
            <a:ext cx="2286000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232A33"/>
                </a:solidFill>
                <a:latin typeface="Aptos"/>
              </a:defRPr>
            </a:pPr>
            <a:r>
              <a:rPr sz="1600"/>
              <a:t>A prohibited or risky co-medication is recorded.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286000"/>
            <a:ext cx="2423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Rectangle 19"/>
          <p:cNvSpPr/>
          <p:nvPr/>
        </p:nvSpPr>
        <p:spPr>
          <a:xfrm>
            <a:off x="9144000" y="2286000"/>
            <a:ext cx="82296" cy="1920240"/>
          </a:xfrm>
          <a:prstGeom prst="rect">
            <a:avLst/>
          </a:prstGeom>
          <a:solidFill>
            <a:srgbClr val="34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9345168" y="2423160"/>
            <a:ext cx="210312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12223B"/>
                </a:solidFill>
                <a:latin typeface="Aptos"/>
              </a:defRPr>
            </a:pPr>
            <a:r>
              <a:t>Data gaps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8" y="2816352"/>
            <a:ext cx="2103120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232A33"/>
                </a:solidFill>
                <a:latin typeface="Aptos"/>
              </a:defRPr>
            </a:pPr>
            <a:r>
              <a:rPr sz="1600"/>
              <a:t>Required tests or documentation are missing.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800600"/>
            <a:ext cx="10835640" cy="1068740"/>
          </a:xfrm>
          <a:prstGeom prst="roundRect">
            <a:avLst/>
          </a:prstGeom>
          <a:solidFill>
            <a:srgbClr val="E7F1FC"/>
          </a:solidFill>
          <a:ln w="12700">
            <a:solidFill>
              <a:srgbClr val="34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914400" y="5020056"/>
            <a:ext cx="10332720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12223B"/>
                </a:solidFill>
                <a:latin typeface="Aptos"/>
              </a:defRPr>
            </a:pPr>
            <a:r>
              <a:rPr sz="2100"/>
              <a:t>The need: real-time, evidence-based visibility into which patients, records, and sites require attention first.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73952"/>
            <a:ext cx="11247120" cy="9144"/>
          </a:xfrm>
          <a:prstGeom prst="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955279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C6775"/>
                </a:solidFill>
                <a:latin typeface="Aptos"/>
              </a:defRPr>
            </a:pPr>
            <a:r>
              <a:rPr sz="1000"/>
              <a:t>Clinical Trial Risk Monitor &amp; Protocol Deviation Detector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6510528"/>
            <a:ext cx="155448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800" b="0">
                <a:solidFill>
                  <a:srgbClr val="5C6775"/>
                </a:solidFill>
                <a:latin typeface="Aptos"/>
              </a:defRPr>
            </a:pPr>
            <a:r>
              <a:rPr sz="1000"/>
              <a:t>IBM BOB Hackathon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875520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3200"/>
              <a:t>Our Solution: TrialGuard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118872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CCDEF1"/>
                </a:solidFill>
                <a:latin typeface="Aptos"/>
              </a:defRPr>
            </a:pPr>
            <a:r>
              <a:rPr sz="1100"/>
              <a:t>03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95410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>
                <a:solidFill>
                  <a:srgbClr val="12223B"/>
                </a:solidFill>
                <a:latin typeface="Aptos"/>
              </a:defRPr>
            </a:pPr>
            <a:r>
              <a:rPr sz="2800"/>
              <a:t>A hybrid AI + rule-based assistant for early detection and explainable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18288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82296" cy="1874519"/>
          </a:xfrm>
          <a:prstGeom prst="rect">
            <a:avLst/>
          </a:prstGeom>
          <a:solidFill>
            <a:srgbClr val="34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795528" y="2011679"/>
            <a:ext cx="150876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12223B"/>
                </a:solidFill>
                <a:latin typeface="Aptos"/>
              </a:defRPr>
            </a:pPr>
            <a:r>
              <a:t>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404872"/>
            <a:ext cx="1508760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32A33"/>
                </a:solidFill>
                <a:latin typeface="Aptos"/>
              </a:defRPr>
            </a:pPr>
            <a:r>
              <a:rPr sz="1600"/>
              <a:t>Approved rules</a:t>
            </a:r>
            <a:br>
              <a:rPr sz="1600"/>
            </a:br>
            <a:r>
              <a:rPr sz="1600"/>
              <a:t>and requirements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96312" y="2596896"/>
            <a:ext cx="320040" cy="365760"/>
          </a:xfrm>
          <a:prstGeom prst="rightArrow">
            <a:avLst/>
          </a:prstGeom>
          <a:solidFill>
            <a:srgbClr val="5C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ounded Rectangle 10"/>
          <p:cNvSpPr/>
          <p:nvPr/>
        </p:nvSpPr>
        <p:spPr>
          <a:xfrm>
            <a:off x="2880360" y="1874519"/>
            <a:ext cx="18288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Rectangle 11"/>
          <p:cNvSpPr/>
          <p:nvPr/>
        </p:nvSpPr>
        <p:spPr>
          <a:xfrm>
            <a:off x="2880360" y="1874519"/>
            <a:ext cx="82296" cy="1874519"/>
          </a:xfrm>
          <a:prstGeom prst="rect">
            <a:avLst/>
          </a:prstGeom>
          <a:solidFill>
            <a:srgbClr val="19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3081528" y="2011679"/>
            <a:ext cx="150876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12223B"/>
                </a:solidFill>
                <a:latin typeface="Aptos"/>
              </a:defRPr>
            </a:pPr>
            <a:r>
              <a:t>Patient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1528" y="2404872"/>
            <a:ext cx="1508760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32A33"/>
                </a:solidFill>
                <a:latin typeface="Aptos"/>
              </a:defRPr>
            </a:pPr>
            <a:r>
              <a:rPr sz="1600"/>
              <a:t>Visits, doses,</a:t>
            </a:r>
            <a:br>
              <a:rPr sz="1600"/>
            </a:br>
            <a:r>
              <a:rPr sz="1600"/>
              <a:t>labs, medicines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82312" y="2596896"/>
            <a:ext cx="320040" cy="365760"/>
          </a:xfrm>
          <a:prstGeom prst="rightArrow">
            <a:avLst/>
          </a:prstGeom>
          <a:solidFill>
            <a:srgbClr val="5C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Rounded Rectangle 15"/>
          <p:cNvSpPr/>
          <p:nvPr/>
        </p:nvSpPr>
        <p:spPr>
          <a:xfrm>
            <a:off x="5166360" y="1874519"/>
            <a:ext cx="18288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ectangle 16"/>
          <p:cNvSpPr/>
          <p:nvPr/>
        </p:nvSpPr>
        <p:spPr>
          <a:xfrm>
            <a:off x="5166360" y="1874519"/>
            <a:ext cx="82296" cy="1874519"/>
          </a:xfrm>
          <a:prstGeom prst="rect">
            <a:avLst/>
          </a:prstGeom>
          <a:solidFill>
            <a:srgbClr val="E88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5367528" y="2011679"/>
            <a:ext cx="150876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12223B"/>
                </a:solidFill>
                <a:latin typeface="Aptos"/>
              </a:defRPr>
            </a:pPr>
            <a:r>
              <a:t>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2404872"/>
            <a:ext cx="1508760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32A33"/>
                </a:solidFill>
                <a:latin typeface="Aptos"/>
              </a:defRPr>
            </a:pPr>
            <a:r>
              <a:rPr sz="1600"/>
              <a:t>Exact checks +</a:t>
            </a:r>
            <a:br>
              <a:rPr sz="1600"/>
            </a:br>
            <a:r>
              <a:rPr sz="1600"/>
              <a:t>AI interpretation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68312" y="2596896"/>
            <a:ext cx="320040" cy="365760"/>
          </a:xfrm>
          <a:prstGeom prst="rightArrow">
            <a:avLst/>
          </a:prstGeom>
          <a:solidFill>
            <a:srgbClr val="5C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Rounded Rectangle 20"/>
          <p:cNvSpPr/>
          <p:nvPr/>
        </p:nvSpPr>
        <p:spPr>
          <a:xfrm>
            <a:off x="7452360" y="1874519"/>
            <a:ext cx="18288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Rectangle 21"/>
          <p:cNvSpPr/>
          <p:nvPr/>
        </p:nvSpPr>
        <p:spPr>
          <a:xfrm>
            <a:off x="7452360" y="1874519"/>
            <a:ext cx="82296" cy="1874519"/>
          </a:xfrm>
          <a:prstGeom prst="rect">
            <a:avLst/>
          </a:prstGeom>
          <a:solidFill>
            <a:srgbClr val="BE3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7653528" y="2011679"/>
            <a:ext cx="150876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12223B"/>
                </a:solidFill>
                <a:latin typeface="Aptos"/>
              </a:defRPr>
            </a:pPr>
            <a:r>
              <a:t>Risk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3528" y="2404872"/>
            <a:ext cx="1508760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32A33"/>
                </a:solidFill>
                <a:latin typeface="Aptos"/>
              </a:defRPr>
            </a:pPr>
            <a:r>
              <a:rPr sz="1600"/>
              <a:t>Site ranking,</a:t>
            </a:r>
            <a:br>
              <a:rPr sz="1600"/>
            </a:br>
            <a:r>
              <a:rPr sz="1600"/>
              <a:t>alerts, trends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54312" y="2596896"/>
            <a:ext cx="320040" cy="365760"/>
          </a:xfrm>
          <a:prstGeom prst="rightArrow">
            <a:avLst/>
          </a:prstGeom>
          <a:solidFill>
            <a:srgbClr val="5C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Rounded Rectangle 25"/>
          <p:cNvSpPr/>
          <p:nvPr/>
        </p:nvSpPr>
        <p:spPr>
          <a:xfrm>
            <a:off x="9738360" y="1874519"/>
            <a:ext cx="18288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Rectangle 26"/>
          <p:cNvSpPr/>
          <p:nvPr/>
        </p:nvSpPr>
        <p:spPr>
          <a:xfrm>
            <a:off x="9738360" y="1874519"/>
            <a:ext cx="82296" cy="1874519"/>
          </a:xfrm>
          <a:prstGeom prst="rect">
            <a:avLst/>
          </a:prstGeom>
          <a:solidFill>
            <a:srgbClr val="2C9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9939528" y="2011679"/>
            <a:ext cx="150876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12223B"/>
                </a:solidFill>
                <a:latin typeface="Aptos"/>
              </a:defRPr>
            </a:pPr>
            <a:r>
              <a:t>CAPA draft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9528" y="2404872"/>
            <a:ext cx="1508760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32A33"/>
                </a:solidFill>
                <a:latin typeface="Aptos"/>
              </a:defRPr>
            </a:pPr>
            <a:r>
              <a:rPr sz="1600"/>
              <a:t>Evidence-linked</a:t>
            </a:r>
            <a:br>
              <a:rPr sz="1600"/>
            </a:br>
            <a:r>
              <a:rPr sz="1600"/>
              <a:t>next actions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4480560"/>
            <a:ext cx="10149840" cy="822960"/>
          </a:xfrm>
          <a:prstGeom prst="roundRect">
            <a:avLst/>
          </a:prstGeom>
          <a:solidFill>
            <a:srgbClr val="EBF7F0"/>
          </a:solidFill>
          <a:ln w="12700">
            <a:solidFill>
              <a:srgbClr val="2C9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TextBox 30"/>
          <p:cNvSpPr txBox="1"/>
          <p:nvPr/>
        </p:nvSpPr>
        <p:spPr>
          <a:xfrm>
            <a:off x="1188720" y="4718304"/>
            <a:ext cx="9784080" cy="3539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12223B"/>
                </a:solidFill>
                <a:latin typeface="Aptos"/>
              </a:defRPr>
            </a:pPr>
            <a:r>
              <a:t>Human-in-the-loop: AI suggests findings; qualified reviewers confirm severity, safety impact, and closure.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473952"/>
            <a:ext cx="11247120" cy="9144"/>
          </a:xfrm>
          <a:prstGeom prst="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7955279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C6775"/>
                </a:solidFill>
                <a:latin typeface="Aptos"/>
              </a:defRPr>
            </a:pPr>
            <a:r>
              <a:rPr sz="1000"/>
              <a:t>Clinical Trial Risk Monitor &amp; Protocol Deviation Detector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6510528"/>
            <a:ext cx="155448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800" b="0">
                <a:solidFill>
                  <a:srgbClr val="5C6775"/>
                </a:solidFill>
                <a:latin typeface="Aptos"/>
              </a:defRPr>
            </a:pPr>
            <a:r>
              <a:rPr sz="1000"/>
              <a:t>IBM BOB Hackathon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875520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3200"/>
              <a:t>Architecture: How the System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118872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CCDEF1"/>
                </a:solidFill>
                <a:latin typeface="Aptos"/>
              </a:defRPr>
            </a:pPr>
            <a:r>
              <a:rPr sz="1100"/>
              <a:t>04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4616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100" b="1">
                <a:solidFill>
                  <a:srgbClr val="12223B"/>
                </a:solidFill>
                <a:latin typeface="Aptos"/>
              </a:defRPr>
            </a:pPr>
            <a:r>
              <a:rPr sz="2000" dirty="0"/>
              <a:t>Flexible language understanding is combined with deterministic clinical checks.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375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82296" cy="1463040"/>
          </a:xfrm>
          <a:prstGeom prst="rect">
            <a:avLst/>
          </a:prstGeom>
          <a:solidFill>
            <a:srgbClr val="34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932688" y="1645919"/>
            <a:ext cx="301752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12223B"/>
                </a:solidFill>
                <a:latin typeface="Aptos"/>
              </a:defRPr>
            </a:pPr>
            <a:r>
              <a:t>1. Input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39112"/>
            <a:ext cx="3017520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232A33"/>
                </a:solidFill>
                <a:latin typeface="Aptos"/>
              </a:defRPr>
            </a:pPr>
            <a:r>
              <a:rPr sz="1400"/>
              <a:t>Protocol PDF • synthetic CSV/JSON • patient and site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3375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4434840" y="1508760"/>
            <a:ext cx="82296" cy="1463040"/>
          </a:xfrm>
          <a:prstGeom prst="rect">
            <a:avLst/>
          </a:prstGeom>
          <a:solidFill>
            <a:srgbClr val="19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4636007" y="1645919"/>
            <a:ext cx="301752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12223B"/>
                </a:solidFill>
                <a:latin typeface="Aptos"/>
              </a:defRPr>
            </a:pPr>
            <a:r>
              <a:t>2. Intelligence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039112"/>
            <a:ext cx="3017520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232A33"/>
                </a:solidFill>
                <a:latin typeface="Aptos"/>
              </a:defRPr>
            </a:pPr>
            <a:r>
              <a:rPr sz="1400"/>
              <a:t>IBM BOB / LLM extracts requirements and explains potential findings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08760"/>
            <a:ext cx="33375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ectangle 14"/>
          <p:cNvSpPr/>
          <p:nvPr/>
        </p:nvSpPr>
        <p:spPr>
          <a:xfrm>
            <a:off x="8138160" y="1508760"/>
            <a:ext cx="82296" cy="1463040"/>
          </a:xfrm>
          <a:prstGeom prst="rect">
            <a:avLst/>
          </a:prstGeom>
          <a:solidFill>
            <a:srgbClr val="E88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8339328" y="1645919"/>
            <a:ext cx="301752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12223B"/>
                </a:solidFill>
                <a:latin typeface="Aptos"/>
              </a:defRPr>
            </a:pPr>
            <a:r>
              <a:t>3. Decision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039112"/>
            <a:ext cx="3017520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232A33"/>
                </a:solidFill>
                <a:latin typeface="Aptos"/>
              </a:defRPr>
            </a:pPr>
            <a:r>
              <a:rPr sz="1400"/>
              <a:t>Rule engine, severity logic, risk scoring, alerts, and CAPA drafts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60520" y="1993392"/>
            <a:ext cx="228600" cy="320040"/>
          </a:xfrm>
          <a:prstGeom prst="rightArrow">
            <a:avLst/>
          </a:prstGeom>
          <a:solidFill>
            <a:srgbClr val="5C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Right Arrow 18"/>
          <p:cNvSpPr/>
          <p:nvPr/>
        </p:nvSpPr>
        <p:spPr>
          <a:xfrm>
            <a:off x="7863840" y="1993392"/>
            <a:ext cx="228600" cy="320040"/>
          </a:xfrm>
          <a:prstGeom prst="rightArrow">
            <a:avLst/>
          </a:prstGeom>
          <a:solidFill>
            <a:srgbClr val="5C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731520" y="3429000"/>
            <a:ext cx="4572000" cy="3539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12223B"/>
                </a:solidFill>
                <a:latin typeface="Aptos"/>
              </a:defRPr>
            </a:pPr>
            <a:r>
              <a:t>Core rule 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794760"/>
            <a:ext cx="4937760" cy="1223412"/>
          </a:xfrm>
          <a:prstGeom prst="rect">
            <a:avLst/>
          </a:prstGeom>
          <a:noFill/>
        </p:spPr>
        <p:txBody>
          <a:bodyPr wrap="square" lIns="118872" rIns="36576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32A33"/>
                </a:solidFill>
                <a:latin typeface="Aptos"/>
              </a:defRPr>
            </a:pPr>
            <a:r>
              <a:rPr sz="1400"/>
              <a:t>Visit date and permitted visit window</a:t>
            </a:r>
          </a:p>
          <a:p>
            <a:pPr>
              <a:spcAft>
                <a:spcPts val="700"/>
              </a:spcAft>
              <a:defRPr sz="1400">
                <a:solidFill>
                  <a:srgbClr val="232A33"/>
                </a:solidFill>
                <a:latin typeface="Aptos"/>
              </a:defRPr>
            </a:pPr>
            <a:r>
              <a:rPr sz="1400"/>
              <a:t>Dose and administration mismatch</a:t>
            </a:r>
          </a:p>
          <a:p>
            <a:pPr>
              <a:spcAft>
                <a:spcPts val="700"/>
              </a:spcAft>
              <a:defRPr sz="1400">
                <a:solidFill>
                  <a:srgbClr val="232A33"/>
                </a:solidFill>
                <a:latin typeface="Aptos"/>
              </a:defRPr>
            </a:pPr>
            <a:r>
              <a:rPr sz="1400"/>
              <a:t>Missing safety laboratory values</a:t>
            </a:r>
          </a:p>
          <a:p>
            <a:pPr>
              <a:spcAft>
                <a:spcPts val="700"/>
              </a:spcAft>
              <a:defRPr sz="1400">
                <a:solidFill>
                  <a:srgbClr val="232A33"/>
                </a:solidFill>
                <a:latin typeface="Aptos"/>
              </a:defRPr>
            </a:pPr>
            <a:r>
              <a:rPr sz="1400"/>
              <a:t>Restricted or prohibited co-medications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429000"/>
            <a:ext cx="4572000" cy="3539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12223B"/>
                </a:solidFill>
                <a:latin typeface="Aptos"/>
              </a:defRPr>
            </a:pPr>
            <a:r>
              <a:t>Governance safeguards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794760"/>
            <a:ext cx="4937760" cy="1223412"/>
          </a:xfrm>
          <a:prstGeom prst="rect">
            <a:avLst/>
          </a:prstGeom>
          <a:noFill/>
        </p:spPr>
        <p:txBody>
          <a:bodyPr wrap="square" lIns="118872" rIns="36576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32A33"/>
                </a:solidFill>
                <a:latin typeface="Aptos"/>
              </a:defRPr>
            </a:pPr>
            <a:r>
              <a:rPr sz="1400"/>
              <a:t>Synthetic or de-identified data for demos</a:t>
            </a:r>
          </a:p>
          <a:p>
            <a:pPr>
              <a:spcAft>
                <a:spcPts val="700"/>
              </a:spcAft>
              <a:defRPr sz="1400">
                <a:solidFill>
                  <a:srgbClr val="232A33"/>
                </a:solidFill>
                <a:latin typeface="Aptos"/>
              </a:defRPr>
            </a:pPr>
            <a:r>
              <a:rPr sz="1400"/>
              <a:t>Evidence shown beside every alert</a:t>
            </a:r>
          </a:p>
          <a:p>
            <a:pPr>
              <a:spcAft>
                <a:spcPts val="700"/>
              </a:spcAft>
              <a:defRPr sz="1400">
                <a:solidFill>
                  <a:srgbClr val="232A33"/>
                </a:solidFill>
                <a:latin typeface="Aptos"/>
              </a:defRPr>
            </a:pPr>
            <a:r>
              <a:rPr sz="1400"/>
              <a:t>Versioned rules and audit trail</a:t>
            </a:r>
          </a:p>
          <a:p>
            <a:pPr>
              <a:spcAft>
                <a:spcPts val="700"/>
              </a:spcAft>
              <a:defRPr sz="1400">
                <a:solidFill>
                  <a:srgbClr val="232A33"/>
                </a:solidFill>
                <a:latin typeface="Aptos"/>
              </a:defRPr>
            </a:pPr>
            <a:r>
              <a:rPr sz="1400"/>
              <a:t>Human review before final 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73952"/>
            <a:ext cx="11247120" cy="9144"/>
          </a:xfrm>
          <a:prstGeom prst="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955279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C6775"/>
                </a:solidFill>
                <a:latin typeface="Aptos"/>
              </a:defRPr>
            </a:pPr>
            <a:r>
              <a:rPr sz="1000"/>
              <a:t>Clinical Trial Risk Monitor &amp; Protocol Deviation Detector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6510528"/>
            <a:ext cx="155448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800" b="0">
                <a:solidFill>
                  <a:srgbClr val="5C6775"/>
                </a:solidFill>
                <a:latin typeface="Aptos"/>
              </a:defRPr>
            </a:pPr>
            <a:r>
              <a:rPr sz="1000"/>
              <a:t>IBM BOB Hackathon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875520" cy="120032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3600"/>
              <a:t>Demo: From a Record Mismatch to an Actionable 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118872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CCDEF1"/>
                </a:solidFill>
                <a:latin typeface="Aptos"/>
              </a:defRPr>
            </a:pPr>
            <a:r>
              <a:rPr sz="1200"/>
              <a:t>05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>
                <a:solidFill>
                  <a:srgbClr val="12223B"/>
                </a:solidFill>
                <a:latin typeface="Aptos"/>
              </a:defRPr>
            </a:pPr>
            <a:r>
              <a:rPr sz="3200"/>
              <a:t>Illustrative example using synthetic patient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3375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82296" cy="3200400"/>
          </a:xfrm>
          <a:prstGeom prst="rect">
            <a:avLst/>
          </a:prstGeom>
          <a:solidFill>
            <a:srgbClr val="34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886968" y="1645919"/>
            <a:ext cx="301752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12223B"/>
                </a:solidFill>
                <a:latin typeface="Aptos"/>
              </a:defRPr>
            </a:pPr>
            <a:r>
              <a:rPr sz="1600"/>
              <a:t>Protocol 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3017520" cy="160043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0">
                <a:solidFill>
                  <a:srgbClr val="232A33"/>
                </a:solidFill>
                <a:latin typeface="Aptos"/>
              </a:defRPr>
            </a:pPr>
            <a:r>
              <a:rPr sz="1400"/>
              <a:t>Visit 2: Day 12–16</a:t>
            </a:r>
            <a:br>
              <a:rPr sz="1400"/>
            </a:br>
            <a:br>
              <a:rPr sz="1400"/>
            </a:br>
            <a:r>
              <a:rPr sz="1400"/>
              <a:t>Required dose: 100 mg</a:t>
            </a:r>
            <a:br>
              <a:rPr sz="1400"/>
            </a:br>
            <a:br>
              <a:rPr sz="1400"/>
            </a:br>
            <a:r>
              <a:rPr sz="1400"/>
              <a:t>Required lab: ALT</a:t>
            </a:r>
            <a:br>
              <a:rPr sz="1400"/>
            </a:br>
            <a:br>
              <a:rPr sz="1400"/>
            </a:br>
            <a:r>
              <a:rPr sz="1400"/>
              <a:t>Restricted medicine: Drug X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51960" y="2697480"/>
            <a:ext cx="731520" cy="594360"/>
          </a:xfrm>
          <a:prstGeom prst="rightArrow">
            <a:avLst/>
          </a:prstGeom>
          <a:solidFill>
            <a:srgbClr val="E88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Rounded Rectangle 10"/>
          <p:cNvSpPr/>
          <p:nvPr/>
        </p:nvSpPr>
        <p:spPr>
          <a:xfrm>
            <a:off x="5166360" y="1508760"/>
            <a:ext cx="33375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Rectangle 11"/>
          <p:cNvSpPr/>
          <p:nvPr/>
        </p:nvSpPr>
        <p:spPr>
          <a:xfrm>
            <a:off x="5166360" y="1508760"/>
            <a:ext cx="82296" cy="3200400"/>
          </a:xfrm>
          <a:prstGeom prst="rect">
            <a:avLst/>
          </a:prstGeom>
          <a:solidFill>
            <a:srgbClr val="BE3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5367528" y="1645919"/>
            <a:ext cx="301752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12223B"/>
                </a:solidFill>
                <a:latin typeface="Aptos"/>
              </a:defRPr>
            </a:pPr>
            <a:r>
              <a:rPr sz="1600"/>
              <a:t>Patient 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2039112"/>
            <a:ext cx="3017520" cy="160043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0">
                <a:solidFill>
                  <a:srgbClr val="232A33"/>
                </a:solidFill>
                <a:latin typeface="Aptos"/>
              </a:defRPr>
            </a:pPr>
            <a:r>
              <a:rPr sz="1400"/>
              <a:t>Visit 2: Day 25</a:t>
            </a:r>
            <a:br>
              <a:rPr sz="1400"/>
            </a:br>
            <a:br>
              <a:rPr sz="1400"/>
            </a:br>
            <a:r>
              <a:rPr sz="1400"/>
              <a:t>Recorded dose: 200 mg</a:t>
            </a:r>
            <a:br>
              <a:rPr sz="1400"/>
            </a:br>
            <a:br>
              <a:rPr sz="1400"/>
            </a:br>
            <a:r>
              <a:rPr sz="1400"/>
              <a:t>ALT: missing</a:t>
            </a:r>
            <a:br>
              <a:rPr sz="1400"/>
            </a:br>
            <a:br>
              <a:rPr sz="1400"/>
            </a:br>
            <a:r>
              <a:rPr sz="1400"/>
              <a:t>Drug X: recorded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732520" y="2697480"/>
            <a:ext cx="731520" cy="594360"/>
          </a:xfrm>
          <a:prstGeom prst="rightArrow">
            <a:avLst/>
          </a:prstGeom>
          <a:solidFill>
            <a:srgbClr val="E88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Rounded Rectangle 15"/>
          <p:cNvSpPr/>
          <p:nvPr/>
        </p:nvSpPr>
        <p:spPr>
          <a:xfrm>
            <a:off x="9646920" y="1508760"/>
            <a:ext cx="19202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Rectangle 16"/>
          <p:cNvSpPr/>
          <p:nvPr/>
        </p:nvSpPr>
        <p:spPr>
          <a:xfrm>
            <a:off x="9646920" y="1508760"/>
            <a:ext cx="82296" cy="3200400"/>
          </a:xfrm>
          <a:prstGeom prst="rect">
            <a:avLst/>
          </a:prstGeom>
          <a:solidFill>
            <a:srgbClr val="BE3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9848088" y="1645919"/>
            <a:ext cx="16002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12223B"/>
                </a:solidFill>
                <a:latin typeface="Aptos"/>
              </a:defRPr>
            </a:pPr>
            <a:r>
              <a:rPr sz="1400"/>
              <a:t>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48088" y="2039112"/>
            <a:ext cx="1600200" cy="101566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232A33"/>
                </a:solidFill>
                <a:latin typeface="Aptos"/>
              </a:defRPr>
            </a:pPr>
            <a:r>
              <a:rPr sz="1200"/>
              <a:t>HIGH</a:t>
            </a:r>
            <a:br>
              <a:rPr sz="1200"/>
            </a:br>
            <a:br>
              <a:rPr sz="1200"/>
            </a:br>
            <a:r>
              <a:rPr sz="1200"/>
              <a:t>3 potential deviations</a:t>
            </a:r>
            <a:br>
              <a:rPr sz="1200"/>
            </a:br>
            <a:br>
              <a:rPr sz="1200"/>
            </a:br>
            <a:r>
              <a:rPr sz="1200"/>
              <a:t>Route to reviewer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212080"/>
            <a:ext cx="10607040" cy="658368"/>
          </a:xfrm>
          <a:prstGeom prst="roundRect">
            <a:avLst/>
          </a:prstGeom>
          <a:solidFill>
            <a:srgbClr val="E7F1FC"/>
          </a:solidFill>
          <a:ln w="12700">
            <a:solidFill>
              <a:srgbClr val="34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1005840" y="5413248"/>
            <a:ext cx="1024128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12223B"/>
                </a:solidFill>
                <a:latin typeface="Aptos"/>
              </a:defRPr>
            </a:pPr>
            <a:r>
              <a:rPr sz="1600"/>
              <a:t>Evidence + rule + severity + suggested next step = a useful alert, not just a red flag.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473952"/>
            <a:ext cx="11247120" cy="9144"/>
          </a:xfrm>
          <a:prstGeom prst="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7955279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C6775"/>
                </a:solidFill>
                <a:latin typeface="Aptos"/>
              </a:defRPr>
            </a:pPr>
            <a:r>
              <a:rPr sz="1050"/>
              <a:t>Clinical Trial Risk Monitor &amp; Protocol Deviation Detector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6510528"/>
            <a:ext cx="155448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800" b="0">
                <a:solidFill>
                  <a:srgbClr val="5C6775"/>
                </a:solidFill>
                <a:latin typeface="Aptos"/>
              </a:defRPr>
            </a:pPr>
            <a:r>
              <a:rPr sz="1050"/>
              <a:t>IBM BOB Hackathon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875520" cy="6463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3600"/>
              <a:t>IBM Technologies Used in the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118872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CCDEF1"/>
                </a:solidFill>
                <a:latin typeface="Aptos"/>
              </a:defRPr>
            </a:pPr>
            <a:r>
              <a:rPr sz="1200"/>
              <a:t>06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100" b="1">
                <a:solidFill>
                  <a:srgbClr val="12223B"/>
                </a:solidFill>
                <a:latin typeface="Aptos"/>
              </a:defRPr>
            </a:pPr>
            <a:r>
              <a:rPr sz="2200" dirty="0"/>
              <a:t>IBM BOB acts as the AI innovation layer within the proposed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82296" cy="1828800"/>
          </a:xfrm>
          <a:prstGeom prst="rect">
            <a:avLst/>
          </a:prstGeom>
          <a:solidFill>
            <a:srgbClr val="34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932688" y="1645919"/>
            <a:ext cx="310896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>
                <a:solidFill>
                  <a:srgbClr val="12223B"/>
                </a:solidFill>
                <a:latin typeface="Aptos"/>
              </a:defRPr>
            </a:pPr>
            <a:r>
              <a:rPr sz="2100"/>
              <a:t>IBM BOB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39112"/>
            <a:ext cx="3108960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232A33"/>
                </a:solidFill>
                <a:latin typeface="Aptos"/>
              </a:defRPr>
            </a:pPr>
            <a:r>
              <a:rPr sz="1400"/>
              <a:t>Supports conversational AI, protocol interpretation, natural-language explanations, and user interaction.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82296" cy="1828800"/>
          </a:xfrm>
          <a:prstGeom prst="rect">
            <a:avLst/>
          </a:prstGeom>
          <a:solidFill>
            <a:srgbClr val="19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4590288" y="1645919"/>
            <a:ext cx="310896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>
                <a:solidFill>
                  <a:srgbClr val="12223B"/>
                </a:solidFill>
                <a:latin typeface="Aptos"/>
              </a:defRPr>
            </a:pPr>
            <a:r>
              <a:rPr sz="2100"/>
              <a:t>AI / LLM capability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39112"/>
            <a:ext cx="3108960" cy="107721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232A33"/>
                </a:solidFill>
                <a:latin typeface="Aptos"/>
              </a:defRPr>
            </a:pPr>
            <a:r>
              <a:rPr sz="1400"/>
              <a:t>Requirement extraction, summarization, evidence explanation, and draft CAPA recommendations.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82296" cy="1828800"/>
          </a:xfrm>
          <a:prstGeom prst="rect">
            <a:avLst/>
          </a:prstGeom>
          <a:solidFill>
            <a:srgbClr val="E88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8247888" y="1645919"/>
            <a:ext cx="310896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>
                <a:solidFill>
                  <a:srgbClr val="12223B"/>
                </a:solidFill>
                <a:latin typeface="Aptos"/>
              </a:defRPr>
            </a:pPr>
            <a:r>
              <a:rPr sz="2100"/>
              <a:t>Data + logic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039112"/>
            <a:ext cx="3108960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232A33"/>
                </a:solidFill>
                <a:latin typeface="Aptos"/>
              </a:defRPr>
            </a:pPr>
            <a:r>
              <a:rPr sz="1400"/>
              <a:t>Structured records, deterministic validation rules, transparent risk calculations, and dashboard views.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86200"/>
            <a:ext cx="1051560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>
                <a:solidFill>
                  <a:srgbClr val="12223B"/>
                </a:solidFill>
                <a:latin typeface="Aptos"/>
              </a:defRPr>
            </a:pPr>
            <a:r>
              <a:rPr sz="2200"/>
              <a:t>Why a hybrid approach?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97680"/>
            <a:ext cx="10332720" cy="1010533"/>
          </a:xfrm>
          <a:prstGeom prst="rect">
            <a:avLst/>
          </a:prstGeom>
          <a:noFill/>
        </p:spPr>
        <p:txBody>
          <a:bodyPr wrap="square" lIns="118872" rIns="36576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2A33"/>
                </a:solidFill>
                <a:latin typeface="Aptos"/>
              </a:defRPr>
            </a:pPr>
            <a:r>
              <a:rPr sz="1400"/>
              <a:t>AI handles unstructured protocol language and user-friendly explanations.</a:t>
            </a:r>
          </a:p>
          <a:p>
            <a:pPr>
              <a:spcAft>
                <a:spcPts val="700"/>
              </a:spcAft>
              <a:defRPr sz="1600">
                <a:solidFill>
                  <a:srgbClr val="232A33"/>
                </a:solidFill>
                <a:latin typeface="Aptos"/>
              </a:defRPr>
            </a:pPr>
            <a:r>
              <a:rPr sz="1400"/>
              <a:t>Rules handle exact comparisons such as dates, doses, and missing fields.</a:t>
            </a:r>
          </a:p>
          <a:p>
            <a:pPr>
              <a:spcAft>
                <a:spcPts val="700"/>
              </a:spcAft>
              <a:defRPr sz="1600">
                <a:solidFill>
                  <a:srgbClr val="232A33"/>
                </a:solidFill>
                <a:latin typeface="Aptos"/>
              </a:defRPr>
            </a:pPr>
            <a:r>
              <a:rPr sz="1400"/>
              <a:t>The interface keeps every finding understandable, reviewable, and traceable.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73952"/>
            <a:ext cx="11247120" cy="9144"/>
          </a:xfrm>
          <a:prstGeom prst="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7955279" cy="25391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C6775"/>
                </a:solidFill>
                <a:latin typeface="Aptos"/>
              </a:defRPr>
            </a:pPr>
            <a:r>
              <a:rPr sz="1050"/>
              <a:t>Clinical Trial Risk Monitor &amp; Protocol Deviation Detector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6510528"/>
            <a:ext cx="1554480" cy="25391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800" b="0">
                <a:solidFill>
                  <a:srgbClr val="5C6775"/>
                </a:solidFill>
                <a:latin typeface="Aptos"/>
              </a:defRPr>
            </a:pPr>
            <a:r>
              <a:rPr sz="1050"/>
              <a:t>IBM BOB Hackathon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875520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3200"/>
              <a:t>Expected Impact: Better Visibility, Faster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118872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CCDEF1"/>
                </a:solidFill>
                <a:latin typeface="Aptos"/>
              </a:defRPr>
            </a:pPr>
            <a:r>
              <a:rPr sz="1100"/>
              <a:t>07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4616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100" b="1">
                <a:solidFill>
                  <a:srgbClr val="12223B"/>
                </a:solidFill>
                <a:latin typeface="Aptos"/>
              </a:defRPr>
            </a:pPr>
            <a:r>
              <a:rPr sz="2000" dirty="0"/>
              <a:t>Success means helping clinical teams focus on the right problem at the right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82296" cy="1920240"/>
          </a:xfrm>
          <a:prstGeom prst="rect">
            <a:avLst/>
          </a:prstGeom>
          <a:solidFill>
            <a:srgbClr val="34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932688" y="1691639"/>
            <a:ext cx="3063240" cy="3539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12223B"/>
                </a:solidFill>
                <a:latin typeface="Aptos"/>
              </a:defRPr>
            </a:pPr>
            <a:r>
              <a:t>Earlier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84831"/>
            <a:ext cx="3063240" cy="738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232A33"/>
                </a:solidFill>
                <a:latin typeface="Aptos"/>
              </a:defRPr>
            </a:pPr>
            <a:r>
              <a:t>Potential deviations can be surfaced before they become repeated or difficult to investigate.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82296" cy="1920240"/>
          </a:xfrm>
          <a:prstGeom prst="rect">
            <a:avLst/>
          </a:prstGeom>
          <a:solidFill>
            <a:srgbClr val="19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4590288" y="1691639"/>
            <a:ext cx="3063240" cy="3539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12223B"/>
                </a:solidFill>
                <a:latin typeface="Aptos"/>
              </a:defRPr>
            </a:pPr>
            <a:r>
              <a:t>Smarter prioritization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84831"/>
            <a:ext cx="306324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232A33"/>
                </a:solidFill>
                <a:latin typeface="Aptos"/>
              </a:defRPr>
            </a:pPr>
            <a:r>
              <a:t>Site-level risk scores help teams focus attention where it is most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82296" cy="1920240"/>
          </a:xfrm>
          <a:prstGeom prst="rect">
            <a:avLst/>
          </a:prstGeom>
          <a:solidFill>
            <a:srgbClr val="2C9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8247888" y="1691639"/>
            <a:ext cx="3063240" cy="3539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12223B"/>
                </a:solidFill>
                <a:latin typeface="Aptos"/>
              </a:defRPr>
            </a:pPr>
            <a:r>
              <a:t>Actionable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084831"/>
            <a:ext cx="306324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232A33"/>
                </a:solidFill>
                <a:latin typeface="Aptos"/>
              </a:defRPr>
            </a:pPr>
            <a:r>
              <a:t>Evidence-linked alerts and CAPA drafts support structured follow-up.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069080"/>
            <a:ext cx="10652760" cy="1051560"/>
          </a:xfrm>
          <a:prstGeom prst="roundRect">
            <a:avLst/>
          </a:prstGeom>
          <a:solidFill>
            <a:srgbClr val="FFF4E4"/>
          </a:solidFill>
          <a:ln w="12700">
            <a:solidFill>
              <a:srgbClr val="E88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1005840" y="4270248"/>
            <a:ext cx="10195560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12223B"/>
                </a:solidFill>
                <a:latin typeface="Aptos"/>
              </a:defRPr>
            </a:pPr>
            <a:r>
              <a:rPr sz="1800"/>
              <a:t>Prototype success metrics:</a:t>
            </a:r>
            <a:br/>
            <a:r>
              <a:rPr sz="1800"/>
              <a:t>• Detection accuracy on synthetic deviations  • Clear evidence for each alert  • Faster review workflow  • Explainable site prioritization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73952"/>
            <a:ext cx="11247120" cy="9144"/>
          </a:xfrm>
          <a:prstGeom prst="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955279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C6775"/>
                </a:solidFill>
                <a:latin typeface="Aptos"/>
              </a:defRPr>
            </a:pPr>
            <a:r>
              <a:rPr sz="1000"/>
              <a:t>Clinical Trial Risk Monitor &amp; Protocol Deviation Detector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6510528"/>
            <a:ext cx="155448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800" b="0">
                <a:solidFill>
                  <a:srgbClr val="5C6775"/>
                </a:solidFill>
                <a:latin typeface="Aptos"/>
              </a:defRPr>
            </a:pPr>
            <a:r>
              <a:rPr sz="1000"/>
              <a:t>IBM BOB Hackathon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875520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3200"/>
              <a:t>Our Team &amp;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82880"/>
            <a:ext cx="118872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CCDEF1"/>
                </a:solidFill>
                <a:latin typeface="Aptos"/>
              </a:defRPr>
            </a:pPr>
            <a:r>
              <a:rPr sz="1100"/>
              <a:t>08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100" b="1">
                <a:solidFill>
                  <a:srgbClr val="12223B"/>
                </a:solidFill>
                <a:latin typeface="Aptos"/>
              </a:defRPr>
            </a:pPr>
            <a:r>
              <a:rPr sz="2000"/>
              <a:t>Four members • Four complementary responsibilities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3035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82296" cy="1691640"/>
          </a:xfrm>
          <a:prstGeom prst="rect">
            <a:avLst/>
          </a:prstGeom>
          <a:solidFill>
            <a:srgbClr val="34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886968" y="1691639"/>
            <a:ext cx="498348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12223B"/>
                </a:solidFill>
                <a:latin typeface="Aptos"/>
              </a:defRPr>
            </a:pPr>
            <a:r>
              <a:t>01  Rohit Gohil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84831"/>
            <a:ext cx="4983480" cy="107721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50" b="0">
                <a:solidFill>
                  <a:srgbClr val="232A33"/>
                </a:solidFill>
                <a:latin typeface="Aptos"/>
              </a:defRPr>
            </a:pPr>
            <a:r>
              <a:rPr sz="1600"/>
              <a:t>Project Lead &amp; Pharma Domain</a:t>
            </a:r>
            <a:br>
              <a:rPr sz="1600"/>
            </a:br>
            <a:br>
              <a:rPr sz="1600"/>
            </a:br>
            <a:r>
              <a:rPr sz="1600"/>
              <a:t>Defines the clinical-trial problem, protocol requirements, deviation examples, and final presentation.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54480"/>
            <a:ext cx="53035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82296" cy="1691640"/>
          </a:xfrm>
          <a:prstGeom prst="rect">
            <a:avLst/>
          </a:prstGeom>
          <a:solidFill>
            <a:srgbClr val="19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6373368" y="1691639"/>
            <a:ext cx="498348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12223B"/>
                </a:solidFill>
                <a:latin typeface="Aptos"/>
              </a:defRPr>
            </a:pPr>
            <a:r>
              <a:t>02  Aryan Sukhadiya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084831"/>
            <a:ext cx="4983480" cy="107721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50" b="0">
                <a:solidFill>
                  <a:srgbClr val="232A33"/>
                </a:solidFill>
                <a:latin typeface="Aptos"/>
              </a:defRPr>
            </a:pPr>
            <a:r>
              <a:rPr sz="1600"/>
              <a:t>AI / IBM BOB Lead</a:t>
            </a:r>
            <a:br>
              <a:rPr sz="1600"/>
            </a:br>
            <a:br>
              <a:rPr sz="1600"/>
            </a:br>
            <a:r>
              <a:rPr sz="1600"/>
              <a:t>Designs prompts, AI workflow, requirement extraction, explanations, and CAPA-generation logic.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94760"/>
            <a:ext cx="53035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ectangle 14"/>
          <p:cNvSpPr/>
          <p:nvPr/>
        </p:nvSpPr>
        <p:spPr>
          <a:xfrm>
            <a:off x="685800" y="3794760"/>
            <a:ext cx="82296" cy="1691640"/>
          </a:xfrm>
          <a:prstGeom prst="rect">
            <a:avLst/>
          </a:prstGeom>
          <a:solidFill>
            <a:srgbClr val="E88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886968" y="3931920"/>
            <a:ext cx="498348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12223B"/>
                </a:solidFill>
                <a:latin typeface="Aptos"/>
              </a:defRPr>
            </a:pPr>
            <a:r>
              <a:t>03  Ved Vyas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25112"/>
            <a:ext cx="4983480" cy="107721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50" b="0">
                <a:solidFill>
                  <a:srgbClr val="232A33"/>
                </a:solidFill>
                <a:latin typeface="Aptos"/>
              </a:defRPr>
            </a:pPr>
            <a:r>
              <a:rPr sz="1600"/>
              <a:t>Data &amp; Risk Analytics Lead</a:t>
            </a:r>
            <a:br>
              <a:rPr sz="1600"/>
            </a:br>
            <a:br>
              <a:rPr sz="1600"/>
            </a:br>
            <a:r>
              <a:rPr sz="1600"/>
              <a:t>Builds synthetic datasets, validation rules, severity classification, and site-level risk scoring.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94760"/>
            <a:ext cx="53035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Rectangle 18"/>
          <p:cNvSpPr/>
          <p:nvPr/>
        </p:nvSpPr>
        <p:spPr>
          <a:xfrm>
            <a:off x="6172200" y="3794760"/>
            <a:ext cx="82296" cy="1691640"/>
          </a:xfrm>
          <a:prstGeom prst="rect">
            <a:avLst/>
          </a:prstGeom>
          <a:solidFill>
            <a:srgbClr val="BE3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6373368" y="3931920"/>
            <a:ext cx="498348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12223B"/>
                </a:solidFill>
                <a:latin typeface="Aptos"/>
              </a:defRPr>
            </a:pPr>
            <a:r>
              <a:t>04  Aditya Shevale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4325112"/>
            <a:ext cx="4983480" cy="107721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50" b="0">
                <a:solidFill>
                  <a:srgbClr val="232A33"/>
                </a:solidFill>
                <a:latin typeface="Aptos"/>
              </a:defRPr>
            </a:pPr>
            <a:r>
              <a:rPr sz="1600"/>
              <a:t>Product, UI &amp; Demo Lead</a:t>
            </a:r>
            <a:br>
              <a:rPr sz="1600"/>
            </a:br>
            <a:br>
              <a:rPr sz="1600"/>
            </a:br>
            <a:r>
              <a:rPr sz="1600"/>
              <a:t>Develops dashboard flow, alert screens, user experience, integration, and live demonstration.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89320"/>
            <a:ext cx="1069848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>
                <a:solidFill>
                  <a:srgbClr val="12223B"/>
                </a:solidFill>
                <a:latin typeface="Aptos"/>
              </a:defRPr>
            </a:pPr>
            <a:r>
              <a:rPr sz="2800"/>
              <a:t>Our goal: Detect earlier. Explain clearly. Act faster.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473952"/>
            <a:ext cx="11247120" cy="9144"/>
          </a:xfrm>
          <a:prstGeom prst="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7955279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C6775"/>
                </a:solidFill>
                <a:latin typeface="Aptos"/>
              </a:defRPr>
            </a:pPr>
            <a:r>
              <a:rPr sz="1000"/>
              <a:t>Clinical Trial Risk Monitor &amp; Protocol Deviation Detector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510528"/>
            <a:ext cx="155448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800" b="0">
                <a:solidFill>
                  <a:srgbClr val="5C6775"/>
                </a:solidFill>
                <a:latin typeface="Aptos"/>
              </a:defRPr>
            </a:pPr>
            <a:r>
              <a:rPr sz="1000"/>
              <a:t>IBM BOB 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864</Words>
  <Application>Microsoft Office PowerPoint</Application>
  <PresentationFormat>Widescreen</PresentationFormat>
  <Paragraphs>113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keywords/>
  <dc:description>generated using python-pptx</dc:description>
  <cp:lastModifiedBy>rohit</cp:lastModifiedBy>
  <cp:revision>2</cp:revision>
  <dcterms:created xsi:type="dcterms:W3CDTF">2013-01-27T09:14:16Z</dcterms:created>
  <dcterms:modified xsi:type="dcterms:W3CDTF">2026-09-14T16:31:23Z</dcterms:modified>
  <cp:category/>
</cp:coreProperties>
</file>